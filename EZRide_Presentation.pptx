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087"/>
        </a:solidFill>
        <a:effectLst/>
      </p:bgPr>
    </p:bg>
    <p:spTree>
      <p:nvGrpSpPr>
        <p:cNvPr id="1" name=""/>
        <p:cNvGrpSpPr/>
        <p:nvPr/>
      </p:nvGrpSpPr>
      <p:grpSpPr/>
      <p:sp>
        <p:nvSpPr>
          <p:cNvPr id="2" name="Rectangle 1"/>
          <p:cNvSpPr/>
          <p:nvPr/>
        </p:nvSpPr>
        <p:spPr>
          <a:xfrm>
            <a:off x="0" y="5303520"/>
            <a:ext cx="12188952" cy="155448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914400"/>
            <a:ext cx="10972800" cy="1280160"/>
          </a:xfrm>
          <a:prstGeom prst="rect">
            <a:avLst/>
          </a:prstGeom>
          <a:noFill/>
        </p:spPr>
        <p:txBody>
          <a:bodyPr wrap="square">
            <a:spAutoFit/>
          </a:bodyPr>
          <a:lstStyle/>
          <a:p>
            <a:pPr algn="ctr"/>
            <a:r>
              <a:rPr sz="5400" b="1">
                <a:solidFill>
                  <a:srgbClr val="FFFFFF"/>
                </a:solidFill>
              </a:rPr>
              <a:t>EZRide</a:t>
            </a:r>
          </a:p>
        </p:txBody>
      </p:sp>
      <p:sp>
        <p:nvSpPr>
          <p:cNvPr id="4" name="TextBox 3"/>
          <p:cNvSpPr txBox="1"/>
          <p:nvPr/>
        </p:nvSpPr>
        <p:spPr>
          <a:xfrm>
            <a:off x="640080" y="2103120"/>
            <a:ext cx="10972800" cy="731520"/>
          </a:xfrm>
          <a:prstGeom prst="rect">
            <a:avLst/>
          </a:prstGeom>
          <a:noFill/>
        </p:spPr>
        <p:txBody>
          <a:bodyPr wrap="square">
            <a:spAutoFit/>
          </a:bodyPr>
          <a:lstStyle/>
          <a:p>
            <a:pPr algn="ctr"/>
            <a:r>
              <a:rPr sz="2600" b="0">
                <a:solidFill>
                  <a:srgbClr val="F5C518"/>
                </a:solidFill>
              </a:rPr>
              <a:t>UMass Boston Transportation Assistant</a:t>
            </a:r>
          </a:p>
        </p:txBody>
      </p:sp>
      <p:sp>
        <p:nvSpPr>
          <p:cNvPr id="5" name="TextBox 4"/>
          <p:cNvSpPr txBox="1"/>
          <p:nvPr/>
        </p:nvSpPr>
        <p:spPr>
          <a:xfrm>
            <a:off x="640080" y="2834640"/>
            <a:ext cx="10972800" cy="548640"/>
          </a:xfrm>
          <a:prstGeom prst="rect">
            <a:avLst/>
          </a:prstGeom>
          <a:noFill/>
        </p:spPr>
        <p:txBody>
          <a:bodyPr wrap="square">
            <a:spAutoFit/>
          </a:bodyPr>
          <a:lstStyle/>
          <a:p>
            <a:pPr algn="ctr"/>
            <a:r>
              <a:rPr sz="1800" b="0">
                <a:solidFill>
                  <a:srgbClr val="E8F0FF"/>
                </a:solidFill>
              </a:rPr>
              <a:t>RAG-Powered Chatbot with Interactive Campus Map</a:t>
            </a:r>
          </a:p>
        </p:txBody>
      </p:sp>
      <p:sp>
        <p:nvSpPr>
          <p:cNvPr id="6" name="TextBox 5"/>
          <p:cNvSpPr txBox="1"/>
          <p:nvPr/>
        </p:nvSpPr>
        <p:spPr>
          <a:xfrm>
            <a:off x="640080" y="5486400"/>
            <a:ext cx="10972800" cy="457200"/>
          </a:xfrm>
          <a:prstGeom prst="rect">
            <a:avLst/>
          </a:prstGeom>
          <a:noFill/>
        </p:spPr>
        <p:txBody>
          <a:bodyPr wrap="square">
            <a:spAutoFit/>
          </a:bodyPr>
          <a:lstStyle/>
          <a:p>
            <a:pPr algn="ctr"/>
            <a:r>
              <a:rPr sz="1400" b="0">
                <a:solidFill>
                  <a:srgbClr val="E8F0FF"/>
                </a:solidFill>
              </a:rPr>
              <a:t>CS Project Presentation  ·  UMass Boston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731520"/>
          </a:xfrm>
          <a:prstGeom prst="rect">
            <a:avLst/>
          </a:prstGeom>
          <a:noFill/>
        </p:spPr>
        <p:txBody>
          <a:bodyPr wrap="square">
            <a:spAutoFit/>
          </a:bodyPr>
          <a:lstStyle/>
          <a:p>
            <a:pPr algn="l"/>
            <a:r>
              <a:rPr sz="2800" b="1">
                <a:solidFill>
                  <a:srgbClr val="FFFFFF"/>
                </a:solidFill>
              </a:rPr>
              <a:t>1. Problem &amp; Use Case</a:t>
            </a:r>
          </a:p>
        </p:txBody>
      </p:sp>
      <p:sp>
        <p:nvSpPr>
          <p:cNvPr id="4" name="Rectangle 3"/>
          <p:cNvSpPr/>
          <p:nvPr/>
        </p:nvSpPr>
        <p:spPr>
          <a:xfrm>
            <a:off x="457200" y="1188720"/>
            <a:ext cx="5303520" cy="5120640"/>
          </a:xfrm>
          <a:prstGeom prst="rect">
            <a:avLst/>
          </a:prstGeom>
          <a:solidFill>
            <a:srgbClr val="E8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25880"/>
            <a:ext cx="4937760" cy="457200"/>
          </a:xfrm>
          <a:prstGeom prst="rect">
            <a:avLst/>
          </a:prstGeom>
          <a:noFill/>
        </p:spPr>
        <p:txBody>
          <a:bodyPr wrap="square">
            <a:spAutoFit/>
          </a:bodyPr>
          <a:lstStyle/>
          <a:p>
            <a:pPr algn="l"/>
            <a:r>
              <a:rPr sz="1800" b="1">
                <a:solidFill>
                  <a:srgbClr val="003087"/>
                </a:solidFill>
              </a:rPr>
              <a:t>The Problem</a:t>
            </a:r>
          </a:p>
        </p:txBody>
      </p:sp>
      <p:sp>
        <p:nvSpPr>
          <p:cNvPr id="6" name="TextBox 5"/>
          <p:cNvSpPr txBox="1"/>
          <p:nvPr/>
        </p:nvSpPr>
        <p:spPr>
          <a:xfrm>
            <a:off x="640080" y="1783080"/>
            <a:ext cx="4937760" cy="4114800"/>
          </a:xfrm>
          <a:prstGeom prst="rect">
            <a:avLst/>
          </a:prstGeom>
          <a:noFill/>
        </p:spPr>
        <p:txBody>
          <a:bodyPr wrap="square">
            <a:spAutoFit/>
          </a:bodyPr>
          <a:lstStyle/>
          <a:p>
            <a:pPr algn="l"/>
            <a:r>
              <a:rPr sz="1500">
                <a:solidFill>
                  <a:srgbClr val="1F2937"/>
                </a:solidFill>
              </a:rPr>
              <a:t>• UMass Boston's transportation info is scattered across 11+ web pages</a:t>
            </a:r>
          </a:p>
          <a:p>
            <a:pPr algn="l"/>
            <a:r>
              <a:rPr sz="1500">
                <a:solidFill>
                  <a:srgbClr val="1F2937"/>
                </a:solidFill>
              </a:rPr>
              <a:t>• Students waste time searching for permit rules, shuttle times, and MBTA passes</a:t>
            </a:r>
          </a:p>
          <a:p>
            <a:pPr algn="l"/>
            <a:r>
              <a:rPr sz="1500">
                <a:solidFill>
                  <a:srgbClr val="1F2937"/>
                </a:solidFill>
              </a:rPr>
              <a:t>• No single interface combines navigation + Q&amp;A</a:t>
            </a:r>
          </a:p>
          <a:p>
            <a:pPr algn="l"/>
            <a:r>
              <a:rPr sz="1500">
                <a:solidFill>
                  <a:srgbClr val="1F2937"/>
                </a:solidFill>
              </a:rPr>
              <a:t>• Existing pages have no conversational interface — just static text</a:t>
            </a:r>
          </a:p>
        </p:txBody>
      </p:sp>
      <p:sp>
        <p:nvSpPr>
          <p:cNvPr id="7" name="Rectangle 6"/>
          <p:cNvSpPr/>
          <p:nvPr/>
        </p:nvSpPr>
        <p:spPr>
          <a:xfrm>
            <a:off x="6309360" y="1188720"/>
            <a:ext cx="5394960" cy="5120640"/>
          </a:xfrm>
          <a:prstGeom prst="rect">
            <a:avLst/>
          </a:prstGeom>
          <a:solidFill>
            <a:srgbClr val="F0F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325880"/>
            <a:ext cx="5029200" cy="457200"/>
          </a:xfrm>
          <a:prstGeom prst="rect">
            <a:avLst/>
          </a:prstGeom>
          <a:noFill/>
        </p:spPr>
        <p:txBody>
          <a:bodyPr wrap="square">
            <a:spAutoFit/>
          </a:bodyPr>
          <a:lstStyle/>
          <a:p>
            <a:pPr algn="l"/>
            <a:r>
              <a:rPr sz="1800" b="1">
                <a:solidFill>
                  <a:srgbClr val="003087"/>
                </a:solidFill>
              </a:rPr>
              <a:t>Target Users</a:t>
            </a:r>
          </a:p>
        </p:txBody>
      </p:sp>
      <p:sp>
        <p:nvSpPr>
          <p:cNvPr id="9" name="TextBox 8"/>
          <p:cNvSpPr txBox="1"/>
          <p:nvPr/>
        </p:nvSpPr>
        <p:spPr>
          <a:xfrm>
            <a:off x="6492240" y="1783080"/>
            <a:ext cx="5029200" cy="4114800"/>
          </a:xfrm>
          <a:prstGeom prst="rect">
            <a:avLst/>
          </a:prstGeom>
          <a:noFill/>
        </p:spPr>
        <p:txBody>
          <a:bodyPr wrap="square">
            <a:spAutoFit/>
          </a:bodyPr>
          <a:lstStyle/>
          <a:p>
            <a:pPr algn="l"/>
            <a:r>
              <a:rPr sz="1500">
                <a:solidFill>
                  <a:srgbClr val="1F2937"/>
                </a:solidFill>
              </a:rPr>
              <a:t>• Students — finding parking, transit passes, bike facilities</a:t>
            </a:r>
          </a:p>
          <a:p>
            <a:pPr algn="l"/>
            <a:r>
              <a:rPr sz="1500">
                <a:solidFill>
                  <a:srgbClr val="1F2937"/>
                </a:solidFill>
              </a:rPr>
              <a:t>• Faculty &amp; Staff — permit purchases, pre-tax benefits, carpool subsidy</a:t>
            </a:r>
          </a:p>
          <a:p>
            <a:pPr algn="l"/>
            <a:r>
              <a:rPr sz="1500">
                <a:solidFill>
                  <a:srgbClr val="1F2937"/>
                </a:solidFill>
              </a:rPr>
              <a:t>• Visitors — daily parking rates and campus navigation</a:t>
            </a:r>
          </a:p>
          <a:p>
            <a:pPr algn="l"/>
            <a:r>
              <a:rPr sz="1500">
                <a:solidFill>
                  <a:srgbClr val="1F2937"/>
                </a:solidFill>
              </a:rPr>
              <a:t>• New students — unfamiliar with campus layout and services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731520"/>
          </a:xfrm>
          <a:prstGeom prst="rect">
            <a:avLst/>
          </a:prstGeom>
          <a:noFill/>
        </p:spPr>
        <p:txBody>
          <a:bodyPr wrap="square">
            <a:spAutoFit/>
          </a:bodyPr>
          <a:lstStyle/>
          <a:p>
            <a:pPr algn="l"/>
            <a:r>
              <a:rPr sz="2800" b="1">
                <a:solidFill>
                  <a:srgbClr val="FFFFFF"/>
                </a:solidFill>
              </a:rPr>
              <a:t>2. System Overview</a:t>
            </a:r>
          </a:p>
        </p:txBody>
      </p:sp>
      <p:sp>
        <p:nvSpPr>
          <p:cNvPr id="4" name="Rectangle 3"/>
          <p:cNvSpPr/>
          <p:nvPr/>
        </p:nvSpPr>
        <p:spPr>
          <a:xfrm>
            <a:off x="320040" y="1188720"/>
            <a:ext cx="1920240" cy="1645920"/>
          </a:xfrm>
          <a:prstGeom prst="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280160"/>
            <a:ext cx="1737360" cy="365760"/>
          </a:xfrm>
          <a:prstGeom prst="rect">
            <a:avLst/>
          </a:prstGeom>
          <a:noFill/>
        </p:spPr>
        <p:txBody>
          <a:bodyPr wrap="square">
            <a:spAutoFit/>
          </a:bodyPr>
          <a:lstStyle/>
          <a:p>
            <a:pPr algn="ctr"/>
            <a:r>
              <a:rPr sz="1300" b="1">
                <a:solidFill>
                  <a:srgbClr val="003087"/>
                </a:solidFill>
              </a:rPr>
              <a:t>Web Scraper</a:t>
            </a:r>
          </a:p>
        </p:txBody>
      </p:sp>
      <p:sp>
        <p:nvSpPr>
          <p:cNvPr id="6" name="TextBox 5"/>
          <p:cNvSpPr txBox="1"/>
          <p:nvPr/>
        </p:nvSpPr>
        <p:spPr>
          <a:xfrm>
            <a:off x="411480" y="1691640"/>
            <a:ext cx="1737360" cy="1005840"/>
          </a:xfrm>
          <a:prstGeom prst="rect">
            <a:avLst/>
          </a:prstGeom>
          <a:noFill/>
        </p:spPr>
        <p:txBody>
          <a:bodyPr wrap="square">
            <a:spAutoFit/>
          </a:bodyPr>
          <a:lstStyle/>
          <a:p>
            <a:pPr algn="ctr"/>
            <a:r>
              <a:rPr sz="1100" b="0">
                <a:solidFill>
                  <a:srgbClr val="1F2937"/>
                </a:solidFill>
              </a:rPr>
              <a:t>BeautifulSoup
11 UMass pages</a:t>
            </a:r>
          </a:p>
        </p:txBody>
      </p:sp>
      <p:sp>
        <p:nvSpPr>
          <p:cNvPr id="7" name="TextBox 6"/>
          <p:cNvSpPr txBox="1"/>
          <p:nvPr/>
        </p:nvSpPr>
        <p:spPr>
          <a:xfrm>
            <a:off x="2273198" y="1783080"/>
            <a:ext cx="274320" cy="457200"/>
          </a:xfrm>
          <a:prstGeom prst="rect">
            <a:avLst/>
          </a:prstGeom>
          <a:noFill/>
        </p:spPr>
        <p:txBody>
          <a:bodyPr wrap="square">
            <a:spAutoFit/>
          </a:bodyPr>
          <a:lstStyle/>
          <a:p>
            <a:pPr algn="ctr"/>
            <a:r>
              <a:rPr sz="2200" b="1">
                <a:solidFill>
                  <a:srgbClr val="003087"/>
                </a:solidFill>
              </a:rPr>
              <a:t>→</a:t>
            </a:r>
          </a:p>
        </p:txBody>
      </p:sp>
      <p:sp>
        <p:nvSpPr>
          <p:cNvPr id="8" name="Rectangle 7"/>
          <p:cNvSpPr/>
          <p:nvPr/>
        </p:nvSpPr>
        <p:spPr>
          <a:xfrm>
            <a:off x="2679192" y="1188720"/>
            <a:ext cx="1920240" cy="1645920"/>
          </a:xfrm>
          <a:prstGeom prst="rect">
            <a:avLst/>
          </a:prstGeom>
          <a:solidFill>
            <a:srgbClr val="DCF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70632" y="1280160"/>
            <a:ext cx="1737360" cy="365760"/>
          </a:xfrm>
          <a:prstGeom prst="rect">
            <a:avLst/>
          </a:prstGeom>
          <a:noFill/>
        </p:spPr>
        <p:txBody>
          <a:bodyPr wrap="square">
            <a:spAutoFit/>
          </a:bodyPr>
          <a:lstStyle/>
          <a:p>
            <a:pPr algn="ctr"/>
            <a:r>
              <a:rPr sz="1300" b="1">
                <a:solidFill>
                  <a:srgbClr val="003087"/>
                </a:solidFill>
              </a:rPr>
              <a:t>Chunker</a:t>
            </a:r>
          </a:p>
        </p:txBody>
      </p:sp>
      <p:sp>
        <p:nvSpPr>
          <p:cNvPr id="10" name="TextBox 9"/>
          <p:cNvSpPr txBox="1"/>
          <p:nvPr/>
        </p:nvSpPr>
        <p:spPr>
          <a:xfrm>
            <a:off x="2770632" y="1691640"/>
            <a:ext cx="1737360" cy="1005840"/>
          </a:xfrm>
          <a:prstGeom prst="rect">
            <a:avLst/>
          </a:prstGeom>
          <a:noFill/>
        </p:spPr>
        <p:txBody>
          <a:bodyPr wrap="square">
            <a:spAutoFit/>
          </a:bodyPr>
          <a:lstStyle/>
          <a:p>
            <a:pPr algn="ctr"/>
            <a:r>
              <a:rPr sz="1100" b="0">
                <a:solidFill>
                  <a:srgbClr val="1F2937"/>
                </a:solidFill>
              </a:rPr>
              <a:t>400-word chunks
80-word overlap
44 total chunks</a:t>
            </a:r>
          </a:p>
        </p:txBody>
      </p:sp>
      <p:sp>
        <p:nvSpPr>
          <p:cNvPr id="11" name="TextBox 10"/>
          <p:cNvSpPr txBox="1"/>
          <p:nvPr/>
        </p:nvSpPr>
        <p:spPr>
          <a:xfrm>
            <a:off x="4632350" y="1783080"/>
            <a:ext cx="274320" cy="457200"/>
          </a:xfrm>
          <a:prstGeom prst="rect">
            <a:avLst/>
          </a:prstGeom>
          <a:noFill/>
        </p:spPr>
        <p:txBody>
          <a:bodyPr wrap="square">
            <a:spAutoFit/>
          </a:bodyPr>
          <a:lstStyle/>
          <a:p>
            <a:pPr algn="ctr"/>
            <a:r>
              <a:rPr sz="2200" b="1">
                <a:solidFill>
                  <a:srgbClr val="003087"/>
                </a:solidFill>
              </a:rPr>
              <a:t>→</a:t>
            </a:r>
          </a:p>
        </p:txBody>
      </p:sp>
      <p:sp>
        <p:nvSpPr>
          <p:cNvPr id="12" name="Rectangle 11"/>
          <p:cNvSpPr/>
          <p:nvPr/>
        </p:nvSpPr>
        <p:spPr>
          <a:xfrm>
            <a:off x="5038344" y="1188720"/>
            <a:ext cx="1920240" cy="1645920"/>
          </a:xfrm>
          <a:prstGeom prst="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29784" y="1280160"/>
            <a:ext cx="1737360" cy="365760"/>
          </a:xfrm>
          <a:prstGeom prst="rect">
            <a:avLst/>
          </a:prstGeom>
          <a:noFill/>
        </p:spPr>
        <p:txBody>
          <a:bodyPr wrap="square">
            <a:spAutoFit/>
          </a:bodyPr>
          <a:lstStyle/>
          <a:p>
            <a:pPr algn="ctr"/>
            <a:r>
              <a:rPr sz="1300" b="1">
                <a:solidFill>
                  <a:srgbClr val="003087"/>
                </a:solidFill>
              </a:rPr>
              <a:t>Embedder</a:t>
            </a:r>
          </a:p>
        </p:txBody>
      </p:sp>
      <p:sp>
        <p:nvSpPr>
          <p:cNvPr id="14" name="TextBox 13"/>
          <p:cNvSpPr txBox="1"/>
          <p:nvPr/>
        </p:nvSpPr>
        <p:spPr>
          <a:xfrm>
            <a:off x="5129784" y="1691640"/>
            <a:ext cx="1737360" cy="1005840"/>
          </a:xfrm>
          <a:prstGeom prst="rect">
            <a:avLst/>
          </a:prstGeom>
          <a:noFill/>
        </p:spPr>
        <p:txBody>
          <a:bodyPr wrap="square">
            <a:spAutoFit/>
          </a:bodyPr>
          <a:lstStyle/>
          <a:p>
            <a:pPr algn="ctr"/>
            <a:r>
              <a:rPr sz="1100" b="0">
                <a:solidFill>
                  <a:srgbClr val="1F2937"/>
                </a:solidFill>
              </a:rPr>
              <a:t>all-MiniLM-L6-v2
384-dim vectors
FAISS index</a:t>
            </a:r>
          </a:p>
        </p:txBody>
      </p:sp>
      <p:sp>
        <p:nvSpPr>
          <p:cNvPr id="15" name="TextBox 14"/>
          <p:cNvSpPr txBox="1"/>
          <p:nvPr/>
        </p:nvSpPr>
        <p:spPr>
          <a:xfrm>
            <a:off x="6991502" y="1783080"/>
            <a:ext cx="274320" cy="457200"/>
          </a:xfrm>
          <a:prstGeom prst="rect">
            <a:avLst/>
          </a:prstGeom>
          <a:noFill/>
        </p:spPr>
        <p:txBody>
          <a:bodyPr wrap="square">
            <a:spAutoFit/>
          </a:bodyPr>
          <a:lstStyle/>
          <a:p>
            <a:pPr algn="ctr"/>
            <a:r>
              <a:rPr sz="2200" b="1">
                <a:solidFill>
                  <a:srgbClr val="003087"/>
                </a:solidFill>
              </a:rPr>
              <a:t>→</a:t>
            </a:r>
          </a:p>
        </p:txBody>
      </p:sp>
      <p:sp>
        <p:nvSpPr>
          <p:cNvPr id="16" name="Rectangle 15"/>
          <p:cNvSpPr/>
          <p:nvPr/>
        </p:nvSpPr>
        <p:spPr>
          <a:xfrm>
            <a:off x="7397496" y="1188720"/>
            <a:ext cx="1920240" cy="1645920"/>
          </a:xfrm>
          <a:prstGeom prst="rect">
            <a:avLst/>
          </a:prstGeom>
          <a:solidFill>
            <a:srgbClr val="FEE2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88936" y="1280160"/>
            <a:ext cx="1737360" cy="365760"/>
          </a:xfrm>
          <a:prstGeom prst="rect">
            <a:avLst/>
          </a:prstGeom>
          <a:noFill/>
        </p:spPr>
        <p:txBody>
          <a:bodyPr wrap="square">
            <a:spAutoFit/>
          </a:bodyPr>
          <a:lstStyle/>
          <a:p>
            <a:pPr algn="ctr"/>
            <a:r>
              <a:rPr sz="1300" b="1">
                <a:solidFill>
                  <a:srgbClr val="003087"/>
                </a:solidFill>
              </a:rPr>
              <a:t>Hybrid Search</a:t>
            </a:r>
          </a:p>
        </p:txBody>
      </p:sp>
      <p:sp>
        <p:nvSpPr>
          <p:cNvPr id="18" name="TextBox 17"/>
          <p:cNvSpPr txBox="1"/>
          <p:nvPr/>
        </p:nvSpPr>
        <p:spPr>
          <a:xfrm>
            <a:off x="7488936" y="1691640"/>
            <a:ext cx="1737360" cy="1005840"/>
          </a:xfrm>
          <a:prstGeom prst="rect">
            <a:avLst/>
          </a:prstGeom>
          <a:noFill/>
        </p:spPr>
        <p:txBody>
          <a:bodyPr wrap="square">
            <a:spAutoFit/>
          </a:bodyPr>
          <a:lstStyle/>
          <a:p>
            <a:pPr algn="ctr"/>
            <a:r>
              <a:rPr sz="1100" b="0">
                <a:solidFill>
                  <a:srgbClr val="1F2937"/>
                </a:solidFill>
              </a:rPr>
              <a:t>BM25 + FAISS
RRF fusion
75% semantic</a:t>
            </a:r>
          </a:p>
        </p:txBody>
      </p:sp>
      <p:sp>
        <p:nvSpPr>
          <p:cNvPr id="19" name="TextBox 18"/>
          <p:cNvSpPr txBox="1"/>
          <p:nvPr/>
        </p:nvSpPr>
        <p:spPr>
          <a:xfrm>
            <a:off x="9350654" y="1783080"/>
            <a:ext cx="274320" cy="457200"/>
          </a:xfrm>
          <a:prstGeom prst="rect">
            <a:avLst/>
          </a:prstGeom>
          <a:noFill/>
        </p:spPr>
        <p:txBody>
          <a:bodyPr wrap="square">
            <a:spAutoFit/>
          </a:bodyPr>
          <a:lstStyle/>
          <a:p>
            <a:pPr algn="ctr"/>
            <a:r>
              <a:rPr sz="2200" b="1">
                <a:solidFill>
                  <a:srgbClr val="003087"/>
                </a:solidFill>
              </a:rPr>
              <a:t>→</a:t>
            </a:r>
          </a:p>
        </p:txBody>
      </p:sp>
      <p:sp>
        <p:nvSpPr>
          <p:cNvPr id="20" name="Rectangle 19"/>
          <p:cNvSpPr/>
          <p:nvPr/>
        </p:nvSpPr>
        <p:spPr>
          <a:xfrm>
            <a:off x="9756648" y="1188720"/>
            <a:ext cx="1920240" cy="1645920"/>
          </a:xfrm>
          <a:prstGeom prst="rect">
            <a:avLst/>
          </a:prstGeom>
          <a:solidFill>
            <a:srgbClr val="F3E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48088" y="1280160"/>
            <a:ext cx="1737360" cy="365760"/>
          </a:xfrm>
          <a:prstGeom prst="rect">
            <a:avLst/>
          </a:prstGeom>
          <a:noFill/>
        </p:spPr>
        <p:txBody>
          <a:bodyPr wrap="square">
            <a:spAutoFit/>
          </a:bodyPr>
          <a:lstStyle/>
          <a:p>
            <a:pPr algn="ctr"/>
            <a:r>
              <a:rPr sz="1300" b="1">
                <a:solidFill>
                  <a:srgbClr val="003087"/>
                </a:solidFill>
              </a:rPr>
              <a:t>Gemini LLM</a:t>
            </a:r>
          </a:p>
        </p:txBody>
      </p:sp>
      <p:sp>
        <p:nvSpPr>
          <p:cNvPr id="22" name="TextBox 21"/>
          <p:cNvSpPr txBox="1"/>
          <p:nvPr/>
        </p:nvSpPr>
        <p:spPr>
          <a:xfrm>
            <a:off x="9848088" y="1691640"/>
            <a:ext cx="1737360" cy="1005840"/>
          </a:xfrm>
          <a:prstGeom prst="rect">
            <a:avLst/>
          </a:prstGeom>
          <a:noFill/>
        </p:spPr>
        <p:txBody>
          <a:bodyPr wrap="square">
            <a:spAutoFit/>
          </a:bodyPr>
          <a:lstStyle/>
          <a:p>
            <a:pPr algn="ctr"/>
            <a:r>
              <a:rPr sz="1100" b="0">
                <a:solidFill>
                  <a:srgbClr val="1F2937"/>
                </a:solidFill>
              </a:rPr>
              <a:t>gemini-3.1-flash-lite
Gevent streaming
Thinking disabled</a:t>
            </a:r>
          </a:p>
        </p:txBody>
      </p:sp>
      <p:sp>
        <p:nvSpPr>
          <p:cNvPr id="23" name="TextBox 22"/>
          <p:cNvSpPr txBox="1"/>
          <p:nvPr/>
        </p:nvSpPr>
        <p:spPr>
          <a:xfrm>
            <a:off x="457200" y="3063240"/>
            <a:ext cx="10972800" cy="365760"/>
          </a:xfrm>
          <a:prstGeom prst="rect">
            <a:avLst/>
          </a:prstGeom>
          <a:noFill/>
        </p:spPr>
        <p:txBody>
          <a:bodyPr wrap="square">
            <a:spAutoFit/>
          </a:bodyPr>
          <a:lstStyle/>
          <a:p>
            <a:pPr algn="l"/>
            <a:r>
              <a:rPr sz="1600" b="1">
                <a:solidFill>
                  <a:srgbClr val="003087"/>
                </a:solidFill>
              </a:rPr>
              <a:t>Tools, APIs &amp; Models</a:t>
            </a:r>
          </a:p>
        </p:txBody>
      </p:sp>
      <p:sp>
        <p:nvSpPr>
          <p:cNvPr id="24" name="Rectangle 23"/>
          <p:cNvSpPr/>
          <p:nvPr/>
        </p:nvSpPr>
        <p:spPr>
          <a:xfrm>
            <a:off x="457200" y="3520440"/>
            <a:ext cx="3657600" cy="731520"/>
          </a:xfrm>
          <a:prstGeom prst="rect">
            <a:avLst/>
          </a:prstGeom>
          <a:solidFill>
            <a:srgbClr val="E8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3566160"/>
            <a:ext cx="3474720" cy="274320"/>
          </a:xfrm>
          <a:prstGeom prst="rect">
            <a:avLst/>
          </a:prstGeom>
          <a:noFill/>
        </p:spPr>
        <p:txBody>
          <a:bodyPr wrap="square">
            <a:spAutoFit/>
          </a:bodyPr>
          <a:lstStyle/>
          <a:p>
            <a:pPr algn="l"/>
            <a:r>
              <a:rPr sz="1100" b="1">
                <a:solidFill>
                  <a:srgbClr val="003087"/>
                </a:solidFill>
              </a:rPr>
              <a:t>Frontend</a:t>
            </a:r>
          </a:p>
        </p:txBody>
      </p:sp>
      <p:sp>
        <p:nvSpPr>
          <p:cNvPr id="26" name="TextBox 25"/>
          <p:cNvSpPr txBox="1"/>
          <p:nvPr/>
        </p:nvSpPr>
        <p:spPr>
          <a:xfrm>
            <a:off x="548640" y="3867912"/>
            <a:ext cx="3474720" cy="320040"/>
          </a:xfrm>
          <a:prstGeom prst="rect">
            <a:avLst/>
          </a:prstGeom>
          <a:noFill/>
        </p:spPr>
        <p:txBody>
          <a:bodyPr wrap="square">
            <a:spAutoFit/>
          </a:bodyPr>
          <a:lstStyle/>
          <a:p>
            <a:pPr algn="l"/>
            <a:r>
              <a:rPr sz="1000" b="0">
                <a:solidFill>
                  <a:srgbClr val="1F2937"/>
                </a:solidFill>
              </a:rPr>
              <a:t>Leaflet.js map, Stadia Maps tiles, OSRM routing</a:t>
            </a:r>
          </a:p>
        </p:txBody>
      </p:sp>
      <p:sp>
        <p:nvSpPr>
          <p:cNvPr id="27" name="Rectangle 26"/>
          <p:cNvSpPr/>
          <p:nvPr/>
        </p:nvSpPr>
        <p:spPr>
          <a:xfrm>
            <a:off x="4480560" y="3520440"/>
            <a:ext cx="3657600" cy="731520"/>
          </a:xfrm>
          <a:prstGeom prst="rect">
            <a:avLst/>
          </a:prstGeom>
          <a:solidFill>
            <a:srgbClr val="E8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0" y="3566160"/>
            <a:ext cx="3474720" cy="274320"/>
          </a:xfrm>
          <a:prstGeom prst="rect">
            <a:avLst/>
          </a:prstGeom>
          <a:noFill/>
        </p:spPr>
        <p:txBody>
          <a:bodyPr wrap="square">
            <a:spAutoFit/>
          </a:bodyPr>
          <a:lstStyle/>
          <a:p>
            <a:pPr algn="l"/>
            <a:r>
              <a:rPr sz="1100" b="1">
                <a:solidFill>
                  <a:srgbClr val="003087"/>
                </a:solidFill>
              </a:rPr>
              <a:t>Walking Routes</a:t>
            </a:r>
          </a:p>
        </p:txBody>
      </p:sp>
      <p:sp>
        <p:nvSpPr>
          <p:cNvPr id="29" name="TextBox 28"/>
          <p:cNvSpPr txBox="1"/>
          <p:nvPr/>
        </p:nvSpPr>
        <p:spPr>
          <a:xfrm>
            <a:off x="4572000" y="3867912"/>
            <a:ext cx="3474720" cy="320040"/>
          </a:xfrm>
          <a:prstGeom prst="rect">
            <a:avLst/>
          </a:prstGeom>
          <a:noFill/>
        </p:spPr>
        <p:txBody>
          <a:bodyPr wrap="square">
            <a:spAutoFit/>
          </a:bodyPr>
          <a:lstStyle/>
          <a:p>
            <a:pPr algn="l"/>
            <a:r>
              <a:rPr sz="1000" b="0">
                <a:solidFill>
                  <a:srgbClr val="1F2937"/>
                </a:solidFill>
              </a:rPr>
              <a:t>Stadia Maps Valhalla (via Vercel proxy)</a:t>
            </a:r>
          </a:p>
        </p:txBody>
      </p:sp>
      <p:sp>
        <p:nvSpPr>
          <p:cNvPr id="30" name="Rectangle 29"/>
          <p:cNvSpPr/>
          <p:nvPr/>
        </p:nvSpPr>
        <p:spPr>
          <a:xfrm>
            <a:off x="8503920" y="3520440"/>
            <a:ext cx="3657600" cy="731520"/>
          </a:xfrm>
          <a:prstGeom prst="rect">
            <a:avLst/>
          </a:prstGeom>
          <a:solidFill>
            <a:srgbClr val="E8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95360" y="3566160"/>
            <a:ext cx="3474720" cy="274320"/>
          </a:xfrm>
          <a:prstGeom prst="rect">
            <a:avLst/>
          </a:prstGeom>
          <a:noFill/>
        </p:spPr>
        <p:txBody>
          <a:bodyPr wrap="square">
            <a:spAutoFit/>
          </a:bodyPr>
          <a:lstStyle/>
          <a:p>
            <a:pPr algn="l"/>
            <a:r>
              <a:rPr sz="1100" b="1">
                <a:solidFill>
                  <a:srgbClr val="003087"/>
                </a:solidFill>
              </a:rPr>
              <a:t>Transit Data</a:t>
            </a:r>
          </a:p>
        </p:txBody>
      </p:sp>
      <p:sp>
        <p:nvSpPr>
          <p:cNvPr id="32" name="TextBox 31"/>
          <p:cNvSpPr txBox="1"/>
          <p:nvPr/>
        </p:nvSpPr>
        <p:spPr>
          <a:xfrm>
            <a:off x="8595360" y="3867912"/>
            <a:ext cx="3474720" cy="320040"/>
          </a:xfrm>
          <a:prstGeom prst="rect">
            <a:avLst/>
          </a:prstGeom>
          <a:noFill/>
        </p:spPr>
        <p:txBody>
          <a:bodyPr wrap="square">
            <a:spAutoFit/>
          </a:bodyPr>
          <a:lstStyle/>
          <a:p>
            <a:pPr algn="l"/>
            <a:r>
              <a:rPr sz="1000" b="0">
                <a:solidFill>
                  <a:srgbClr val="1F2937"/>
                </a:solidFill>
              </a:rPr>
              <a:t>MBTA API, UMass TransLoc arrivals</a:t>
            </a:r>
          </a:p>
        </p:txBody>
      </p:sp>
      <p:sp>
        <p:nvSpPr>
          <p:cNvPr id="33" name="Rectangle 32"/>
          <p:cNvSpPr/>
          <p:nvPr/>
        </p:nvSpPr>
        <p:spPr>
          <a:xfrm>
            <a:off x="457200" y="4389120"/>
            <a:ext cx="3657600" cy="731520"/>
          </a:xfrm>
          <a:prstGeom prst="rect">
            <a:avLst/>
          </a:prstGeom>
          <a:solidFill>
            <a:srgbClr val="E8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4434840"/>
            <a:ext cx="3474720" cy="274320"/>
          </a:xfrm>
          <a:prstGeom prst="rect">
            <a:avLst/>
          </a:prstGeom>
          <a:noFill/>
        </p:spPr>
        <p:txBody>
          <a:bodyPr wrap="square">
            <a:spAutoFit/>
          </a:bodyPr>
          <a:lstStyle/>
          <a:p>
            <a:pPr algn="l"/>
            <a:r>
              <a:rPr sz="1100" b="1">
                <a:solidFill>
                  <a:srgbClr val="003087"/>
                </a:solidFill>
              </a:rPr>
              <a:t>Search</a:t>
            </a:r>
          </a:p>
        </p:txBody>
      </p:sp>
      <p:sp>
        <p:nvSpPr>
          <p:cNvPr id="35" name="TextBox 34"/>
          <p:cNvSpPr txBox="1"/>
          <p:nvPr/>
        </p:nvSpPr>
        <p:spPr>
          <a:xfrm>
            <a:off x="548640" y="4736592"/>
            <a:ext cx="3474720" cy="320040"/>
          </a:xfrm>
          <a:prstGeom prst="rect">
            <a:avLst/>
          </a:prstGeom>
          <a:noFill/>
        </p:spPr>
        <p:txBody>
          <a:bodyPr wrap="square">
            <a:spAutoFit/>
          </a:bodyPr>
          <a:lstStyle/>
          <a:p>
            <a:pPr algn="l"/>
            <a:r>
              <a:rPr sz="1000" b="0">
                <a:solidFill>
                  <a:srgbClr val="1F2937"/>
                </a:solidFill>
              </a:rPr>
              <a:t>rank-bm25 + FAISS (faiss-cpu)</a:t>
            </a:r>
          </a:p>
        </p:txBody>
      </p:sp>
      <p:sp>
        <p:nvSpPr>
          <p:cNvPr id="36" name="Rectangle 35"/>
          <p:cNvSpPr/>
          <p:nvPr/>
        </p:nvSpPr>
        <p:spPr>
          <a:xfrm>
            <a:off x="4480560" y="4389120"/>
            <a:ext cx="3657600" cy="731520"/>
          </a:xfrm>
          <a:prstGeom prst="rect">
            <a:avLst/>
          </a:prstGeom>
          <a:solidFill>
            <a:srgbClr val="E8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0" y="4434840"/>
            <a:ext cx="3474720" cy="274320"/>
          </a:xfrm>
          <a:prstGeom prst="rect">
            <a:avLst/>
          </a:prstGeom>
          <a:noFill/>
        </p:spPr>
        <p:txBody>
          <a:bodyPr wrap="square">
            <a:spAutoFit/>
          </a:bodyPr>
          <a:lstStyle/>
          <a:p>
            <a:pPr algn="l"/>
            <a:r>
              <a:rPr sz="1100" b="1">
                <a:solidFill>
                  <a:srgbClr val="003087"/>
                </a:solidFill>
              </a:rPr>
              <a:t>LLM</a:t>
            </a:r>
          </a:p>
        </p:txBody>
      </p:sp>
      <p:sp>
        <p:nvSpPr>
          <p:cNvPr id="38" name="TextBox 37"/>
          <p:cNvSpPr txBox="1"/>
          <p:nvPr/>
        </p:nvSpPr>
        <p:spPr>
          <a:xfrm>
            <a:off x="4572000" y="4736592"/>
            <a:ext cx="3474720" cy="320040"/>
          </a:xfrm>
          <a:prstGeom prst="rect">
            <a:avLst/>
          </a:prstGeom>
          <a:noFill/>
        </p:spPr>
        <p:txBody>
          <a:bodyPr wrap="square">
            <a:spAutoFit/>
          </a:bodyPr>
          <a:lstStyle/>
          <a:p>
            <a:pPr algn="l"/>
            <a:r>
              <a:rPr sz="1000" b="0">
                <a:solidFill>
                  <a:srgbClr val="1F2937"/>
                </a:solidFill>
              </a:rPr>
              <a:t>Google Gemini 3.1 Flash Lite</a:t>
            </a:r>
          </a:p>
        </p:txBody>
      </p:sp>
      <p:sp>
        <p:nvSpPr>
          <p:cNvPr id="39" name="Rectangle 38"/>
          <p:cNvSpPr/>
          <p:nvPr/>
        </p:nvSpPr>
        <p:spPr>
          <a:xfrm>
            <a:off x="8503920" y="4389120"/>
            <a:ext cx="3657600" cy="731520"/>
          </a:xfrm>
          <a:prstGeom prst="rect">
            <a:avLst/>
          </a:prstGeom>
          <a:solidFill>
            <a:srgbClr val="E8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595360" y="4434840"/>
            <a:ext cx="3474720" cy="274320"/>
          </a:xfrm>
          <a:prstGeom prst="rect">
            <a:avLst/>
          </a:prstGeom>
          <a:noFill/>
        </p:spPr>
        <p:txBody>
          <a:bodyPr wrap="square">
            <a:spAutoFit/>
          </a:bodyPr>
          <a:lstStyle/>
          <a:p>
            <a:pPr algn="l"/>
            <a:r>
              <a:rPr sz="1100" b="1">
                <a:solidFill>
                  <a:srgbClr val="003087"/>
                </a:solidFill>
              </a:rPr>
              <a:t>Hosting</a:t>
            </a:r>
          </a:p>
        </p:txBody>
      </p:sp>
      <p:sp>
        <p:nvSpPr>
          <p:cNvPr id="41" name="TextBox 40"/>
          <p:cNvSpPr txBox="1"/>
          <p:nvPr/>
        </p:nvSpPr>
        <p:spPr>
          <a:xfrm>
            <a:off x="8595360" y="4736592"/>
            <a:ext cx="3474720" cy="320040"/>
          </a:xfrm>
          <a:prstGeom prst="rect">
            <a:avLst/>
          </a:prstGeom>
          <a:noFill/>
        </p:spPr>
        <p:txBody>
          <a:bodyPr wrap="square">
            <a:spAutoFit/>
          </a:bodyPr>
          <a:lstStyle/>
          <a:p>
            <a:pPr algn="l"/>
            <a:r>
              <a:rPr sz="1000" b="0">
                <a:solidFill>
                  <a:srgbClr val="1F2937"/>
                </a:solidFill>
              </a:rPr>
              <a:t>HF Spaces (backend) + Vercel (frontend)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731520"/>
          </a:xfrm>
          <a:prstGeom prst="rect">
            <a:avLst/>
          </a:prstGeom>
          <a:noFill/>
        </p:spPr>
        <p:txBody>
          <a:bodyPr wrap="square">
            <a:spAutoFit/>
          </a:bodyPr>
          <a:lstStyle/>
          <a:p>
            <a:pPr algn="l"/>
            <a:r>
              <a:rPr sz="2800" b="1">
                <a:solidFill>
                  <a:srgbClr val="FFFFFF"/>
                </a:solidFill>
              </a:rPr>
              <a:t>3. What Works &amp; What Doesn't</a:t>
            </a:r>
          </a:p>
        </p:txBody>
      </p:sp>
      <p:sp>
        <p:nvSpPr>
          <p:cNvPr id="4" name="Rectangle 3"/>
          <p:cNvSpPr/>
          <p:nvPr/>
        </p:nvSpPr>
        <p:spPr>
          <a:xfrm>
            <a:off x="457200" y="1143000"/>
            <a:ext cx="5303520" cy="5212080"/>
          </a:xfrm>
          <a:prstGeom prst="rect">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143000"/>
            <a:ext cx="5303520" cy="45720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88720"/>
            <a:ext cx="5120640" cy="365760"/>
          </a:xfrm>
          <a:prstGeom prst="rect">
            <a:avLst/>
          </a:prstGeom>
          <a:noFill/>
        </p:spPr>
        <p:txBody>
          <a:bodyPr wrap="square">
            <a:spAutoFit/>
          </a:bodyPr>
          <a:lstStyle/>
          <a:p>
            <a:pPr algn="l"/>
            <a:r>
              <a:rPr sz="1400" b="1">
                <a:solidFill>
                  <a:srgbClr val="FFFFFF"/>
                </a:solidFill>
              </a:rPr>
              <a:t>✓  Successful Case</a:t>
            </a:r>
          </a:p>
        </p:txBody>
      </p:sp>
      <p:sp>
        <p:nvSpPr>
          <p:cNvPr id="7" name="TextBox 6"/>
          <p:cNvSpPr txBox="1"/>
          <p:nvPr/>
        </p:nvSpPr>
        <p:spPr>
          <a:xfrm>
            <a:off x="594360" y="1737360"/>
            <a:ext cx="5029200" cy="548640"/>
          </a:xfrm>
          <a:prstGeom prst="rect">
            <a:avLst/>
          </a:prstGeom>
          <a:noFill/>
        </p:spPr>
        <p:txBody>
          <a:bodyPr wrap="square">
            <a:spAutoFit/>
          </a:bodyPr>
          <a:lstStyle/>
          <a:p>
            <a:pPr algn="l"/>
            <a:r>
              <a:rPr sz="1200" b="1">
                <a:solidFill>
                  <a:srgbClr val="003087"/>
                </a:solidFill>
              </a:rPr>
              <a:t>Q: "How much does an annual Blue Bikes membership cost?"</a:t>
            </a:r>
          </a:p>
        </p:txBody>
      </p:sp>
      <p:sp>
        <p:nvSpPr>
          <p:cNvPr id="8" name="TextBox 7"/>
          <p:cNvSpPr txBox="1"/>
          <p:nvPr/>
        </p:nvSpPr>
        <p:spPr>
          <a:xfrm>
            <a:off x="594360" y="2331720"/>
            <a:ext cx="5029200" cy="731520"/>
          </a:xfrm>
          <a:prstGeom prst="rect">
            <a:avLst/>
          </a:prstGeom>
          <a:noFill/>
        </p:spPr>
        <p:txBody>
          <a:bodyPr wrap="square">
            <a:spAutoFit/>
          </a:bodyPr>
          <a:lstStyle/>
          <a:p>
            <a:pPr algn="l"/>
            <a:r>
              <a:rPr sz="1200" b="0">
                <a:solidFill>
                  <a:srgbClr val="1F2937"/>
                </a:solidFill>
              </a:rPr>
              <a:t>A (RAG): "The annual Bluebikes membership for UMass Boston affiliates costs $101.50 using promo code BikeUMB."</a:t>
            </a:r>
          </a:p>
        </p:txBody>
      </p:sp>
      <p:sp>
        <p:nvSpPr>
          <p:cNvPr id="9" name="TextBox 8"/>
          <p:cNvSpPr txBox="1"/>
          <p:nvPr/>
        </p:nvSpPr>
        <p:spPr>
          <a:xfrm>
            <a:off x="594360" y="3154680"/>
            <a:ext cx="5029200" cy="274320"/>
          </a:xfrm>
          <a:prstGeom prst="rect">
            <a:avLst/>
          </a:prstGeom>
          <a:noFill/>
        </p:spPr>
        <p:txBody>
          <a:bodyPr wrap="square">
            <a:spAutoFit/>
          </a:bodyPr>
          <a:lstStyle/>
          <a:p>
            <a:pPr algn="l"/>
            <a:r>
              <a:rPr sz="1200" b="1">
                <a:solidFill>
                  <a:srgbClr val="003087"/>
                </a:solidFill>
              </a:rPr>
              <a:t>Why it worked:</a:t>
            </a:r>
          </a:p>
        </p:txBody>
      </p:sp>
      <p:sp>
        <p:nvSpPr>
          <p:cNvPr id="10" name="TextBox 9"/>
          <p:cNvSpPr txBox="1"/>
          <p:nvPr/>
        </p:nvSpPr>
        <p:spPr>
          <a:xfrm>
            <a:off x="594360" y="3456432"/>
            <a:ext cx="5029200" cy="2560320"/>
          </a:xfrm>
          <a:prstGeom prst="rect">
            <a:avLst/>
          </a:prstGeom>
          <a:noFill/>
        </p:spPr>
        <p:txBody>
          <a:bodyPr wrap="square">
            <a:spAutoFit/>
          </a:bodyPr>
          <a:lstStyle/>
          <a:p>
            <a:pPr algn="l"/>
            <a:r>
              <a:rPr sz="1200">
                <a:solidFill>
                  <a:srgbClr val="1F2937"/>
                </a:solidFill>
              </a:rPr>
              <a:t>• Exact price $101.50 and promo code BikeUMB present in biking chunk</a:t>
            </a:r>
          </a:p>
          <a:p>
            <a:pPr algn="l"/>
            <a:r>
              <a:rPr sz="1200">
                <a:solidFill>
                  <a:srgbClr val="1F2937"/>
                </a:solidFill>
              </a:rPr>
              <a:t>• Semantic search correctly prioritizes the biking page</a:t>
            </a:r>
          </a:p>
          <a:p>
            <a:pPr algn="l"/>
            <a:r>
              <a:rPr sz="1200">
                <a:solidFill>
                  <a:srgbClr val="1F2937"/>
                </a:solidFill>
              </a:rPr>
              <a:t>• Short, factual question — single chunk is sufficient</a:t>
            </a:r>
          </a:p>
          <a:p>
            <a:pPr algn="l"/>
            <a:r>
              <a:rPr sz="1200">
                <a:solidFill>
                  <a:srgbClr val="1F2937"/>
                </a:solidFill>
              </a:rPr>
              <a:t>• Scored 5/5 on all 5 dimensions</a:t>
            </a:r>
          </a:p>
        </p:txBody>
      </p:sp>
      <p:sp>
        <p:nvSpPr>
          <p:cNvPr id="11" name="Rectangle 10"/>
          <p:cNvSpPr/>
          <p:nvPr/>
        </p:nvSpPr>
        <p:spPr>
          <a:xfrm>
            <a:off x="6309360" y="1143000"/>
            <a:ext cx="5394960" cy="5212080"/>
          </a:xfrm>
          <a:prstGeom prst="rect">
            <a:avLst/>
          </a:prstGeom>
          <a:solidFill>
            <a:srgbClr val="FFF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9360" y="1143000"/>
            <a:ext cx="5394960" cy="4572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188720"/>
            <a:ext cx="5212080" cy="365760"/>
          </a:xfrm>
          <a:prstGeom prst="rect">
            <a:avLst/>
          </a:prstGeom>
          <a:noFill/>
        </p:spPr>
        <p:txBody>
          <a:bodyPr wrap="square">
            <a:spAutoFit/>
          </a:bodyPr>
          <a:lstStyle/>
          <a:p>
            <a:pPr algn="l"/>
            <a:r>
              <a:rPr sz="1400" b="1">
                <a:solidFill>
                  <a:srgbClr val="FFFFFF"/>
                </a:solidFill>
              </a:rPr>
              <a:t>~  Challenge: Vague Queries</a:t>
            </a:r>
          </a:p>
        </p:txBody>
      </p:sp>
      <p:sp>
        <p:nvSpPr>
          <p:cNvPr id="14" name="TextBox 13"/>
          <p:cNvSpPr txBox="1"/>
          <p:nvPr/>
        </p:nvSpPr>
        <p:spPr>
          <a:xfrm>
            <a:off x="6446520" y="1737360"/>
            <a:ext cx="5166360" cy="365760"/>
          </a:xfrm>
          <a:prstGeom prst="rect">
            <a:avLst/>
          </a:prstGeom>
          <a:noFill/>
        </p:spPr>
        <p:txBody>
          <a:bodyPr wrap="square">
            <a:spAutoFit/>
          </a:bodyPr>
          <a:lstStyle/>
          <a:p>
            <a:pPr algn="l"/>
            <a:r>
              <a:rPr sz="1200" b="1">
                <a:solidFill>
                  <a:srgbClr val="003087"/>
                </a:solidFill>
              </a:rPr>
              <a:t>Q: "Tell me about permits"</a:t>
            </a:r>
          </a:p>
        </p:txBody>
      </p:sp>
      <p:sp>
        <p:nvSpPr>
          <p:cNvPr id="15" name="TextBox 14"/>
          <p:cNvSpPr txBox="1"/>
          <p:nvPr/>
        </p:nvSpPr>
        <p:spPr>
          <a:xfrm>
            <a:off x="6446520" y="2148840"/>
            <a:ext cx="5166360" cy="548640"/>
          </a:xfrm>
          <a:prstGeom prst="rect">
            <a:avLst/>
          </a:prstGeom>
          <a:noFill/>
        </p:spPr>
        <p:txBody>
          <a:bodyPr wrap="square">
            <a:spAutoFit/>
          </a:bodyPr>
          <a:lstStyle/>
          <a:p>
            <a:pPr algn="l"/>
            <a:r>
              <a:rPr sz="1200" b="0">
                <a:solidFill>
                  <a:srgbClr val="DC2626"/>
                </a:solidFill>
              </a:rPr>
              <a:t>A (before fix): "I don't have enough specific information to answer that."</a:t>
            </a:r>
          </a:p>
        </p:txBody>
      </p:sp>
      <p:sp>
        <p:nvSpPr>
          <p:cNvPr id="16" name="TextBox 15"/>
          <p:cNvSpPr txBox="1"/>
          <p:nvPr/>
        </p:nvSpPr>
        <p:spPr>
          <a:xfrm>
            <a:off x="6446520" y="2697480"/>
            <a:ext cx="5166360" cy="548640"/>
          </a:xfrm>
          <a:prstGeom prst="rect">
            <a:avLst/>
          </a:prstGeom>
          <a:noFill/>
        </p:spPr>
        <p:txBody>
          <a:bodyPr wrap="square">
            <a:spAutoFit/>
          </a:bodyPr>
          <a:lstStyle/>
          <a:p>
            <a:pPr algn="l"/>
            <a:r>
              <a:rPr sz="1200" b="0">
                <a:solidFill>
                  <a:srgbClr val="16A34A"/>
                </a:solidFill>
              </a:rPr>
              <a:t>A (after fix): Full summary of permit types, portal steps, rules, and cancellation.</a:t>
            </a:r>
          </a:p>
        </p:txBody>
      </p:sp>
      <p:sp>
        <p:nvSpPr>
          <p:cNvPr id="17" name="TextBox 16"/>
          <p:cNvSpPr txBox="1"/>
          <p:nvPr/>
        </p:nvSpPr>
        <p:spPr>
          <a:xfrm>
            <a:off x="6446520" y="3383280"/>
            <a:ext cx="5166360" cy="274320"/>
          </a:xfrm>
          <a:prstGeom prst="rect">
            <a:avLst/>
          </a:prstGeom>
          <a:noFill/>
        </p:spPr>
        <p:txBody>
          <a:bodyPr wrap="square">
            <a:spAutoFit/>
          </a:bodyPr>
          <a:lstStyle/>
          <a:p>
            <a:pPr algn="l"/>
            <a:r>
              <a:rPr sz="1200" b="1">
                <a:solidFill>
                  <a:srgbClr val="003087"/>
                </a:solidFill>
              </a:rPr>
              <a:t>Root cause &amp; fix:</a:t>
            </a:r>
          </a:p>
        </p:txBody>
      </p:sp>
      <p:sp>
        <p:nvSpPr>
          <p:cNvPr id="18" name="TextBox 17"/>
          <p:cNvSpPr txBox="1"/>
          <p:nvPr/>
        </p:nvSpPr>
        <p:spPr>
          <a:xfrm>
            <a:off x="6446520" y="3703320"/>
            <a:ext cx="5166360" cy="2286000"/>
          </a:xfrm>
          <a:prstGeom prst="rect">
            <a:avLst/>
          </a:prstGeom>
          <a:noFill/>
        </p:spPr>
        <p:txBody>
          <a:bodyPr wrap="square">
            <a:spAutoFit/>
          </a:bodyPr>
          <a:lstStyle/>
          <a:p>
            <a:pPr algn="l"/>
            <a:r>
              <a:rPr sz="1200">
                <a:solidFill>
                  <a:srgbClr val="1F2937"/>
                </a:solidFill>
              </a:rPr>
              <a:t>• Retrieval was correct — 5 permit chunks always returned</a:t>
            </a:r>
          </a:p>
          <a:p>
            <a:pPr algn="l"/>
            <a:r>
              <a:rPr sz="1200">
                <a:solidFill>
                  <a:srgbClr val="1F2937"/>
                </a:solidFill>
              </a:rPr>
              <a:t>• LLM treated vague query like a missing specific fact → refused</a:t>
            </a:r>
          </a:p>
          <a:p>
            <a:pPr algn="l"/>
            <a:r>
              <a:rPr sz="1200">
                <a:solidFill>
                  <a:srgbClr val="1F2937"/>
                </a:solidFill>
              </a:rPr>
              <a:t>• Fix: system prompt now distinguishes broad vs specific questions</a:t>
            </a:r>
          </a:p>
          <a:p>
            <a:pPr algn="l"/>
            <a:r>
              <a:rPr sz="1200">
                <a:solidFill>
                  <a:srgbClr val="1F2937"/>
                </a:solidFill>
              </a:rPr>
              <a:t>• Broad → synthesize all retrieved context; Specific → refuse if missing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731520"/>
          </a:xfrm>
          <a:prstGeom prst="rect">
            <a:avLst/>
          </a:prstGeom>
          <a:noFill/>
        </p:spPr>
        <p:txBody>
          <a:bodyPr wrap="square">
            <a:spAutoFit/>
          </a:bodyPr>
          <a:lstStyle/>
          <a:p>
            <a:pPr algn="l"/>
            <a:r>
              <a:rPr sz="2800" b="1">
                <a:solidFill>
                  <a:srgbClr val="FFFFFF"/>
                </a:solidFill>
              </a:rPr>
              <a:t>4. Evaluation</a:t>
            </a:r>
          </a:p>
        </p:txBody>
      </p:sp>
      <p:sp>
        <p:nvSpPr>
          <p:cNvPr id="4" name="TextBox 3"/>
          <p:cNvSpPr txBox="1"/>
          <p:nvPr/>
        </p:nvSpPr>
        <p:spPr>
          <a:xfrm>
            <a:off x="457200" y="1097280"/>
            <a:ext cx="10972800" cy="320040"/>
          </a:xfrm>
          <a:prstGeom prst="rect">
            <a:avLst/>
          </a:prstGeom>
          <a:noFill/>
        </p:spPr>
        <p:txBody>
          <a:bodyPr wrap="square">
            <a:spAutoFit/>
          </a:bodyPr>
          <a:lstStyle/>
          <a:p>
            <a:pPr algn="l"/>
            <a:r>
              <a:rPr sz="1400" b="1">
                <a:solidFill>
                  <a:srgbClr val="003087"/>
                </a:solidFill>
              </a:rPr>
              <a:t>Method</a:t>
            </a:r>
          </a:p>
        </p:txBody>
      </p:sp>
      <p:sp>
        <p:nvSpPr>
          <p:cNvPr id="5" name="TextBox 4"/>
          <p:cNvSpPr txBox="1"/>
          <p:nvPr/>
        </p:nvSpPr>
        <p:spPr>
          <a:xfrm>
            <a:off x="457200" y="1417320"/>
            <a:ext cx="11247120" cy="594360"/>
          </a:xfrm>
          <a:prstGeom prst="rect">
            <a:avLst/>
          </a:prstGeom>
          <a:noFill/>
        </p:spPr>
        <p:txBody>
          <a:bodyPr wrap="square">
            <a:spAutoFit/>
          </a:bodyPr>
          <a:lstStyle/>
          <a:p>
            <a:pPr algn="l"/>
            <a:r>
              <a:rPr sz="1300" b="0">
                <a:solidFill>
                  <a:srgbClr val="1F2937"/>
                </a:solidFill>
              </a:rPr>
              <a:t>10 factual questions grounded in the corpus were run through (1) the full RAG pipeline and (2) the Gemini LLM with no retrieval context. Both answers were scored 1–5 on five dimensions by Gemini acting as an automated judge.</a:t>
            </a:r>
          </a:p>
        </p:txBody>
      </p:sp>
      <p:sp>
        <p:nvSpPr>
          <p:cNvPr id="6" name="Rectangle 5"/>
          <p:cNvSpPr/>
          <p:nvPr/>
        </p:nvSpPr>
        <p:spPr>
          <a:xfrm>
            <a:off x="457200" y="2148840"/>
            <a:ext cx="2560320" cy="438912"/>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2221992"/>
            <a:ext cx="2468880" cy="347472"/>
          </a:xfrm>
          <a:prstGeom prst="rect">
            <a:avLst/>
          </a:prstGeom>
          <a:noFill/>
        </p:spPr>
        <p:txBody>
          <a:bodyPr wrap="square">
            <a:spAutoFit/>
          </a:bodyPr>
          <a:lstStyle/>
          <a:p>
            <a:pPr algn="ctr"/>
            <a:r>
              <a:rPr sz="1300" b="1">
                <a:solidFill>
                  <a:srgbClr val="FFFFFF"/>
                </a:solidFill>
              </a:rPr>
              <a:t>Dimension</a:t>
            </a:r>
          </a:p>
        </p:txBody>
      </p:sp>
      <p:sp>
        <p:nvSpPr>
          <p:cNvPr id="8" name="Rectangle 7"/>
          <p:cNvSpPr/>
          <p:nvPr/>
        </p:nvSpPr>
        <p:spPr>
          <a:xfrm>
            <a:off x="3017520" y="2148840"/>
            <a:ext cx="1828800" cy="438912"/>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90672" y="2221992"/>
            <a:ext cx="1737360" cy="347472"/>
          </a:xfrm>
          <a:prstGeom prst="rect">
            <a:avLst/>
          </a:prstGeom>
          <a:noFill/>
        </p:spPr>
        <p:txBody>
          <a:bodyPr wrap="square">
            <a:spAutoFit/>
          </a:bodyPr>
          <a:lstStyle/>
          <a:p>
            <a:pPr algn="ctr"/>
            <a:r>
              <a:rPr sz="1300" b="1">
                <a:solidFill>
                  <a:srgbClr val="FFFFFF"/>
                </a:solidFill>
              </a:rPr>
              <a:t>RAG Pipeline</a:t>
            </a:r>
          </a:p>
        </p:txBody>
      </p:sp>
      <p:sp>
        <p:nvSpPr>
          <p:cNvPr id="10" name="Rectangle 9"/>
          <p:cNvSpPr/>
          <p:nvPr/>
        </p:nvSpPr>
        <p:spPr>
          <a:xfrm>
            <a:off x="4846320" y="2148840"/>
            <a:ext cx="1828800" cy="438912"/>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19472" y="2221992"/>
            <a:ext cx="1737360" cy="347472"/>
          </a:xfrm>
          <a:prstGeom prst="rect">
            <a:avLst/>
          </a:prstGeom>
          <a:noFill/>
        </p:spPr>
        <p:txBody>
          <a:bodyPr wrap="square">
            <a:spAutoFit/>
          </a:bodyPr>
          <a:lstStyle/>
          <a:p>
            <a:pPr algn="ctr"/>
            <a:r>
              <a:rPr sz="1300" b="1">
                <a:solidFill>
                  <a:srgbClr val="FFFFFF"/>
                </a:solidFill>
              </a:rPr>
              <a:t>Direct LLM</a:t>
            </a:r>
          </a:p>
        </p:txBody>
      </p:sp>
      <p:sp>
        <p:nvSpPr>
          <p:cNvPr id="12" name="Rectangle 11"/>
          <p:cNvSpPr/>
          <p:nvPr/>
        </p:nvSpPr>
        <p:spPr>
          <a:xfrm>
            <a:off x="457200" y="2587752"/>
            <a:ext cx="2560320" cy="438912"/>
          </a:xfrm>
          <a:prstGeom prst="rect">
            <a:avLst/>
          </a:prstGeom>
          <a:solidFill>
            <a:srgbClr val="E8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0352" y="2660904"/>
            <a:ext cx="2468880" cy="347472"/>
          </a:xfrm>
          <a:prstGeom prst="rect">
            <a:avLst/>
          </a:prstGeom>
          <a:noFill/>
        </p:spPr>
        <p:txBody>
          <a:bodyPr wrap="square">
            <a:spAutoFit/>
          </a:bodyPr>
          <a:lstStyle/>
          <a:p>
            <a:pPr algn="l"/>
            <a:r>
              <a:rPr sz="1300" b="0">
                <a:solidFill>
                  <a:srgbClr val="1F2937"/>
                </a:solidFill>
              </a:rPr>
              <a:t>Accuracy</a:t>
            </a:r>
          </a:p>
        </p:txBody>
      </p:sp>
      <p:sp>
        <p:nvSpPr>
          <p:cNvPr id="14" name="Rectangle 13"/>
          <p:cNvSpPr/>
          <p:nvPr/>
        </p:nvSpPr>
        <p:spPr>
          <a:xfrm>
            <a:off x="3017520" y="2587752"/>
            <a:ext cx="1828800" cy="438912"/>
          </a:xfrm>
          <a:prstGeom prst="rect">
            <a:avLst/>
          </a:prstGeom>
          <a:solidFill>
            <a:srgbClr val="E8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17520" y="2660904"/>
            <a:ext cx="1828800" cy="347472"/>
          </a:xfrm>
          <a:prstGeom prst="rect">
            <a:avLst/>
          </a:prstGeom>
          <a:noFill/>
        </p:spPr>
        <p:txBody>
          <a:bodyPr wrap="square">
            <a:spAutoFit/>
          </a:bodyPr>
          <a:lstStyle/>
          <a:p>
            <a:pPr algn="ctr"/>
            <a:r>
              <a:rPr sz="1400" b="1">
                <a:solidFill>
                  <a:srgbClr val="16A34A"/>
                </a:solidFill>
              </a:rPr>
              <a:t>5.00 / 5</a:t>
            </a:r>
          </a:p>
        </p:txBody>
      </p:sp>
      <p:sp>
        <p:nvSpPr>
          <p:cNvPr id="16" name="Rectangle 15"/>
          <p:cNvSpPr/>
          <p:nvPr/>
        </p:nvSpPr>
        <p:spPr>
          <a:xfrm>
            <a:off x="4846320" y="2587752"/>
            <a:ext cx="1828800" cy="438912"/>
          </a:xfrm>
          <a:prstGeom prst="rect">
            <a:avLst/>
          </a:prstGeom>
          <a:solidFill>
            <a:srgbClr val="E8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0" y="2660904"/>
            <a:ext cx="1828800" cy="347472"/>
          </a:xfrm>
          <a:prstGeom prst="rect">
            <a:avLst/>
          </a:prstGeom>
          <a:noFill/>
        </p:spPr>
        <p:txBody>
          <a:bodyPr wrap="square">
            <a:spAutoFit/>
          </a:bodyPr>
          <a:lstStyle/>
          <a:p>
            <a:pPr algn="ctr"/>
            <a:r>
              <a:rPr sz="1400" b="1">
                <a:solidFill>
                  <a:srgbClr val="DC2626"/>
                </a:solidFill>
              </a:rPr>
              <a:t>2.30 / 5</a:t>
            </a:r>
          </a:p>
        </p:txBody>
      </p:sp>
      <p:sp>
        <p:nvSpPr>
          <p:cNvPr id="18" name="Rectangle 17"/>
          <p:cNvSpPr/>
          <p:nvPr/>
        </p:nvSpPr>
        <p:spPr>
          <a:xfrm>
            <a:off x="457200" y="3026664"/>
            <a:ext cx="256032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0352" y="3099816"/>
            <a:ext cx="2468880" cy="347472"/>
          </a:xfrm>
          <a:prstGeom prst="rect">
            <a:avLst/>
          </a:prstGeom>
          <a:noFill/>
        </p:spPr>
        <p:txBody>
          <a:bodyPr wrap="square">
            <a:spAutoFit/>
          </a:bodyPr>
          <a:lstStyle/>
          <a:p>
            <a:pPr algn="l"/>
            <a:r>
              <a:rPr sz="1300" b="0">
                <a:solidFill>
                  <a:srgbClr val="1F2937"/>
                </a:solidFill>
              </a:rPr>
              <a:t>Completeness</a:t>
            </a:r>
          </a:p>
        </p:txBody>
      </p:sp>
      <p:sp>
        <p:nvSpPr>
          <p:cNvPr id="20" name="Rectangle 19"/>
          <p:cNvSpPr/>
          <p:nvPr/>
        </p:nvSpPr>
        <p:spPr>
          <a:xfrm>
            <a:off x="3017520" y="3026664"/>
            <a:ext cx="182880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17520" y="3099816"/>
            <a:ext cx="1828800" cy="347472"/>
          </a:xfrm>
          <a:prstGeom prst="rect">
            <a:avLst/>
          </a:prstGeom>
          <a:noFill/>
        </p:spPr>
        <p:txBody>
          <a:bodyPr wrap="square">
            <a:spAutoFit/>
          </a:bodyPr>
          <a:lstStyle/>
          <a:p>
            <a:pPr algn="ctr"/>
            <a:r>
              <a:rPr sz="1400" b="1">
                <a:solidFill>
                  <a:srgbClr val="16A34A"/>
                </a:solidFill>
              </a:rPr>
              <a:t>5.00 / 5</a:t>
            </a:r>
          </a:p>
        </p:txBody>
      </p:sp>
      <p:sp>
        <p:nvSpPr>
          <p:cNvPr id="22" name="Rectangle 21"/>
          <p:cNvSpPr/>
          <p:nvPr/>
        </p:nvSpPr>
        <p:spPr>
          <a:xfrm>
            <a:off x="4846320" y="3026664"/>
            <a:ext cx="182880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46320" y="3099816"/>
            <a:ext cx="1828800" cy="347472"/>
          </a:xfrm>
          <a:prstGeom prst="rect">
            <a:avLst/>
          </a:prstGeom>
          <a:noFill/>
        </p:spPr>
        <p:txBody>
          <a:bodyPr wrap="square">
            <a:spAutoFit/>
          </a:bodyPr>
          <a:lstStyle/>
          <a:p>
            <a:pPr algn="ctr"/>
            <a:r>
              <a:rPr sz="1400" b="1">
                <a:solidFill>
                  <a:srgbClr val="DC2626"/>
                </a:solidFill>
              </a:rPr>
              <a:t>1.30 / 5</a:t>
            </a:r>
          </a:p>
        </p:txBody>
      </p:sp>
      <p:sp>
        <p:nvSpPr>
          <p:cNvPr id="24" name="Rectangle 23"/>
          <p:cNvSpPr/>
          <p:nvPr/>
        </p:nvSpPr>
        <p:spPr>
          <a:xfrm>
            <a:off x="457200" y="3465576"/>
            <a:ext cx="2560320" cy="438912"/>
          </a:xfrm>
          <a:prstGeom prst="rect">
            <a:avLst/>
          </a:prstGeom>
          <a:solidFill>
            <a:srgbClr val="E8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0352" y="3538728"/>
            <a:ext cx="2468880" cy="347472"/>
          </a:xfrm>
          <a:prstGeom prst="rect">
            <a:avLst/>
          </a:prstGeom>
          <a:noFill/>
        </p:spPr>
        <p:txBody>
          <a:bodyPr wrap="square">
            <a:spAutoFit/>
          </a:bodyPr>
          <a:lstStyle/>
          <a:p>
            <a:pPr algn="l"/>
            <a:r>
              <a:rPr sz="1300" b="0">
                <a:solidFill>
                  <a:srgbClr val="1F2937"/>
                </a:solidFill>
              </a:rPr>
              <a:t>Relevance</a:t>
            </a:r>
          </a:p>
        </p:txBody>
      </p:sp>
      <p:sp>
        <p:nvSpPr>
          <p:cNvPr id="26" name="Rectangle 25"/>
          <p:cNvSpPr/>
          <p:nvPr/>
        </p:nvSpPr>
        <p:spPr>
          <a:xfrm>
            <a:off x="3017520" y="3465576"/>
            <a:ext cx="1828800" cy="438912"/>
          </a:xfrm>
          <a:prstGeom prst="rect">
            <a:avLst/>
          </a:prstGeom>
          <a:solidFill>
            <a:srgbClr val="E8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17520" y="3538728"/>
            <a:ext cx="1828800" cy="347472"/>
          </a:xfrm>
          <a:prstGeom prst="rect">
            <a:avLst/>
          </a:prstGeom>
          <a:noFill/>
        </p:spPr>
        <p:txBody>
          <a:bodyPr wrap="square">
            <a:spAutoFit/>
          </a:bodyPr>
          <a:lstStyle/>
          <a:p>
            <a:pPr algn="ctr"/>
            <a:r>
              <a:rPr sz="1400" b="1">
                <a:solidFill>
                  <a:srgbClr val="16A34A"/>
                </a:solidFill>
              </a:rPr>
              <a:t>4.80 / 5</a:t>
            </a:r>
          </a:p>
        </p:txBody>
      </p:sp>
      <p:sp>
        <p:nvSpPr>
          <p:cNvPr id="28" name="Rectangle 27"/>
          <p:cNvSpPr/>
          <p:nvPr/>
        </p:nvSpPr>
        <p:spPr>
          <a:xfrm>
            <a:off x="4846320" y="3465576"/>
            <a:ext cx="1828800" cy="438912"/>
          </a:xfrm>
          <a:prstGeom prst="rect">
            <a:avLst/>
          </a:prstGeom>
          <a:solidFill>
            <a:srgbClr val="E8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46320" y="3538728"/>
            <a:ext cx="1828800" cy="347472"/>
          </a:xfrm>
          <a:prstGeom prst="rect">
            <a:avLst/>
          </a:prstGeom>
          <a:noFill/>
        </p:spPr>
        <p:txBody>
          <a:bodyPr wrap="square">
            <a:spAutoFit/>
          </a:bodyPr>
          <a:lstStyle/>
          <a:p>
            <a:pPr algn="ctr"/>
            <a:r>
              <a:rPr sz="1400" b="1">
                <a:solidFill>
                  <a:srgbClr val="DC2626"/>
                </a:solidFill>
              </a:rPr>
              <a:t>4.10 / 5</a:t>
            </a:r>
          </a:p>
        </p:txBody>
      </p:sp>
      <p:sp>
        <p:nvSpPr>
          <p:cNvPr id="30" name="Rectangle 29"/>
          <p:cNvSpPr/>
          <p:nvPr/>
        </p:nvSpPr>
        <p:spPr>
          <a:xfrm>
            <a:off x="457200" y="3904488"/>
            <a:ext cx="256032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0352" y="3977640"/>
            <a:ext cx="2468880" cy="347472"/>
          </a:xfrm>
          <a:prstGeom prst="rect">
            <a:avLst/>
          </a:prstGeom>
          <a:noFill/>
        </p:spPr>
        <p:txBody>
          <a:bodyPr wrap="square">
            <a:spAutoFit/>
          </a:bodyPr>
          <a:lstStyle/>
          <a:p>
            <a:pPr algn="l"/>
            <a:r>
              <a:rPr sz="1300" b="0">
                <a:solidFill>
                  <a:srgbClr val="1F2937"/>
                </a:solidFill>
              </a:rPr>
              <a:t>Conciseness</a:t>
            </a:r>
          </a:p>
        </p:txBody>
      </p:sp>
      <p:sp>
        <p:nvSpPr>
          <p:cNvPr id="32" name="Rectangle 31"/>
          <p:cNvSpPr/>
          <p:nvPr/>
        </p:nvSpPr>
        <p:spPr>
          <a:xfrm>
            <a:off x="3017520" y="3904488"/>
            <a:ext cx="182880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017520" y="3977640"/>
            <a:ext cx="1828800" cy="347472"/>
          </a:xfrm>
          <a:prstGeom prst="rect">
            <a:avLst/>
          </a:prstGeom>
          <a:noFill/>
        </p:spPr>
        <p:txBody>
          <a:bodyPr wrap="square">
            <a:spAutoFit/>
          </a:bodyPr>
          <a:lstStyle/>
          <a:p>
            <a:pPr algn="ctr"/>
            <a:r>
              <a:rPr sz="1400" b="1">
                <a:solidFill>
                  <a:srgbClr val="16A34A"/>
                </a:solidFill>
              </a:rPr>
              <a:t>4.20 / 5</a:t>
            </a:r>
          </a:p>
        </p:txBody>
      </p:sp>
      <p:sp>
        <p:nvSpPr>
          <p:cNvPr id="34" name="Rectangle 33"/>
          <p:cNvSpPr/>
          <p:nvPr/>
        </p:nvSpPr>
        <p:spPr>
          <a:xfrm>
            <a:off x="4846320" y="3904488"/>
            <a:ext cx="182880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846320" y="3977640"/>
            <a:ext cx="1828800" cy="347472"/>
          </a:xfrm>
          <a:prstGeom prst="rect">
            <a:avLst/>
          </a:prstGeom>
          <a:noFill/>
        </p:spPr>
        <p:txBody>
          <a:bodyPr wrap="square">
            <a:spAutoFit/>
          </a:bodyPr>
          <a:lstStyle/>
          <a:p>
            <a:pPr algn="ctr"/>
            <a:r>
              <a:rPr sz="1400" b="1">
                <a:solidFill>
                  <a:srgbClr val="16A34A"/>
                </a:solidFill>
              </a:rPr>
              <a:t>4.20 / 5</a:t>
            </a:r>
          </a:p>
        </p:txBody>
      </p:sp>
      <p:sp>
        <p:nvSpPr>
          <p:cNvPr id="36" name="Rectangle 35"/>
          <p:cNvSpPr/>
          <p:nvPr/>
        </p:nvSpPr>
        <p:spPr>
          <a:xfrm>
            <a:off x="457200" y="4343400"/>
            <a:ext cx="2560320" cy="438912"/>
          </a:xfrm>
          <a:prstGeom prst="rect">
            <a:avLst/>
          </a:prstGeom>
          <a:solidFill>
            <a:srgbClr val="E8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30352" y="4416552"/>
            <a:ext cx="2468880" cy="347472"/>
          </a:xfrm>
          <a:prstGeom prst="rect">
            <a:avLst/>
          </a:prstGeom>
          <a:noFill/>
        </p:spPr>
        <p:txBody>
          <a:bodyPr wrap="square">
            <a:spAutoFit/>
          </a:bodyPr>
          <a:lstStyle/>
          <a:p>
            <a:pPr algn="l"/>
            <a:r>
              <a:rPr sz="1300" b="0">
                <a:solidFill>
                  <a:srgbClr val="1F2937"/>
                </a:solidFill>
              </a:rPr>
              <a:t>Groundedness</a:t>
            </a:r>
          </a:p>
        </p:txBody>
      </p:sp>
      <p:sp>
        <p:nvSpPr>
          <p:cNvPr id="38" name="Rectangle 37"/>
          <p:cNvSpPr/>
          <p:nvPr/>
        </p:nvSpPr>
        <p:spPr>
          <a:xfrm>
            <a:off x="3017520" y="4343400"/>
            <a:ext cx="1828800" cy="438912"/>
          </a:xfrm>
          <a:prstGeom prst="rect">
            <a:avLst/>
          </a:prstGeom>
          <a:solidFill>
            <a:srgbClr val="E8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017520" y="4416552"/>
            <a:ext cx="1828800" cy="347472"/>
          </a:xfrm>
          <a:prstGeom prst="rect">
            <a:avLst/>
          </a:prstGeom>
          <a:noFill/>
        </p:spPr>
        <p:txBody>
          <a:bodyPr wrap="square">
            <a:spAutoFit/>
          </a:bodyPr>
          <a:lstStyle/>
          <a:p>
            <a:pPr algn="ctr"/>
            <a:r>
              <a:rPr sz="1400" b="1">
                <a:solidFill>
                  <a:srgbClr val="16A34A"/>
                </a:solidFill>
              </a:rPr>
              <a:t>5.00 / 5</a:t>
            </a:r>
          </a:p>
        </p:txBody>
      </p:sp>
      <p:sp>
        <p:nvSpPr>
          <p:cNvPr id="40" name="Rectangle 39"/>
          <p:cNvSpPr/>
          <p:nvPr/>
        </p:nvSpPr>
        <p:spPr>
          <a:xfrm>
            <a:off x="4846320" y="4343400"/>
            <a:ext cx="1828800" cy="438912"/>
          </a:xfrm>
          <a:prstGeom prst="rect">
            <a:avLst/>
          </a:prstGeom>
          <a:solidFill>
            <a:srgbClr val="E8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846320" y="4416552"/>
            <a:ext cx="1828800" cy="347472"/>
          </a:xfrm>
          <a:prstGeom prst="rect">
            <a:avLst/>
          </a:prstGeom>
          <a:noFill/>
        </p:spPr>
        <p:txBody>
          <a:bodyPr wrap="square">
            <a:spAutoFit/>
          </a:bodyPr>
          <a:lstStyle/>
          <a:p>
            <a:pPr algn="ctr"/>
            <a:r>
              <a:rPr sz="1400" b="1">
                <a:solidFill>
                  <a:srgbClr val="DC2626"/>
                </a:solidFill>
              </a:rPr>
              <a:t>4.20 / 5</a:t>
            </a:r>
          </a:p>
        </p:txBody>
      </p:sp>
      <p:sp>
        <p:nvSpPr>
          <p:cNvPr id="42" name="TextBox 41"/>
          <p:cNvSpPr txBox="1"/>
          <p:nvPr/>
        </p:nvSpPr>
        <p:spPr>
          <a:xfrm>
            <a:off x="6675120" y="2057400"/>
            <a:ext cx="5029200" cy="365760"/>
          </a:xfrm>
          <a:prstGeom prst="rect">
            <a:avLst/>
          </a:prstGeom>
          <a:noFill/>
        </p:spPr>
        <p:txBody>
          <a:bodyPr wrap="square">
            <a:spAutoFit/>
          </a:bodyPr>
          <a:lstStyle/>
          <a:p>
            <a:pPr algn="l"/>
            <a:r>
              <a:rPr sz="1500" b="1">
                <a:solidFill>
                  <a:srgbClr val="003087"/>
                </a:solidFill>
              </a:rPr>
              <a:t>Key Findings</a:t>
            </a:r>
          </a:p>
        </p:txBody>
      </p:sp>
      <p:sp>
        <p:nvSpPr>
          <p:cNvPr id="43" name="TextBox 42"/>
          <p:cNvSpPr txBox="1"/>
          <p:nvPr/>
        </p:nvSpPr>
        <p:spPr>
          <a:xfrm>
            <a:off x="6675120" y="2468880"/>
            <a:ext cx="5212080" cy="3931920"/>
          </a:xfrm>
          <a:prstGeom prst="rect">
            <a:avLst/>
          </a:prstGeom>
          <a:noFill/>
        </p:spPr>
        <p:txBody>
          <a:bodyPr wrap="square">
            <a:spAutoFit/>
          </a:bodyPr>
          <a:lstStyle/>
          <a:p>
            <a:pPr algn="l"/>
            <a:r>
              <a:rPr sz="1300">
                <a:solidFill>
                  <a:srgbClr val="1F2937"/>
                </a:solidFill>
              </a:rPr>
              <a:t>• RAG scores 5.00/5 on accuracy vs 2.30 direct — retrieval prevents hallucination</a:t>
            </a:r>
          </a:p>
          <a:p>
            <a:pPr algn="l"/>
            <a:r>
              <a:rPr sz="1300">
                <a:solidFill>
                  <a:srgbClr val="1F2937"/>
                </a:solidFill>
              </a:rPr>
              <a:t>• RAG scores 5.00/5 on completeness vs 1.30 direct — context drives full answers</a:t>
            </a:r>
          </a:p>
          <a:p>
            <a:pPr algn="l"/>
            <a:r>
              <a:rPr sz="1300">
                <a:solidFill>
                  <a:srgbClr val="1F2937"/>
                </a:solidFill>
              </a:rPr>
              <a:t>• Both score similarly on conciseness — RAG doesn't pad answers unnecessarily</a:t>
            </a:r>
          </a:p>
          <a:p>
            <a:pPr algn="l"/>
            <a:r>
              <a:rPr sz="1300">
                <a:solidFill>
                  <a:srgbClr val="1F2937"/>
                </a:solidFill>
              </a:rPr>
              <a:t>• 7/10 questions had all key terms in retrieved top-5 chunks</a:t>
            </a:r>
          </a:p>
          <a:p>
            <a:pPr algn="l"/>
            <a:r>
              <a:rPr sz="1300">
                <a:solidFill>
                  <a:srgbClr val="1F2937"/>
                </a:solidFill>
              </a:rPr>
              <a:t>• 3/10 missed retrieval hints but LLM recovered from nearby context</a:t>
            </a:r>
          </a:p>
          <a:p>
            <a:pPr algn="l"/>
            <a:r>
              <a:rPr sz="1300">
                <a:solidFill>
                  <a:srgbClr val="1F2937"/>
                </a:solidFill>
              </a:rPr>
              <a:t>• Direct LLM hallucinated wrong prices, codes, and locations on 7/10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